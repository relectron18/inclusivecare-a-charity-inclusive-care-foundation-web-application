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47"/>
  </p:notesMasterIdLst>
  <p:sldIdLst>
    <p:sldId id="276"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265" r:id="rId28"/>
    <p:sldId id="266" r:id="rId29"/>
    <p:sldId id="267" r:id="rId30"/>
    <p:sldId id="268" r:id="rId31"/>
    <p:sldId id="269" r:id="rId32"/>
    <p:sldId id="270" r:id="rId33"/>
    <p:sldId id="271" r:id="rId34"/>
    <p:sldId id="272" r:id="rId35"/>
    <p:sldId id="273" r:id="rId36"/>
    <p:sldId id="274" r:id="rId37"/>
    <p:sldId id="275" r:id="rId38"/>
    <p:sldId id="257" r:id="rId39"/>
    <p:sldId id="258" r:id="rId40"/>
    <p:sldId id="259" r:id="rId41"/>
    <p:sldId id="260" r:id="rId42"/>
    <p:sldId id="261" r:id="rId43"/>
    <p:sldId id="262" r:id="rId44"/>
    <p:sldId id="263" r:id="rId45"/>
    <p:sldId id="26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B2B6CD-AE08-411E-8164-5F2F6F73AB98}"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42C141-F093-4F01-98BD-B165672ABEB3}" type="slidenum">
              <a:rPr lang="en-US" smtClean="0"/>
              <a:t>‹#›</a:t>
            </a:fld>
            <a:endParaRPr lang="en-US"/>
          </a:p>
        </p:txBody>
      </p:sp>
    </p:spTree>
    <p:extLst>
      <p:ext uri="{BB962C8B-B14F-4D97-AF65-F5344CB8AC3E}">
        <p14:creationId xmlns:p14="http://schemas.microsoft.com/office/powerpoint/2010/main" val="238201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fontAlgn="base">
              <a:spcBef>
                <a:spcPct val="0"/>
              </a:spcBef>
              <a:spcAft>
                <a:spcPct val="0"/>
              </a:spcAft>
              <a:defRPr>
                <a:solidFill>
                  <a:schemeClr val="tx1"/>
                </a:solidFill>
                <a:latin typeface="Constantia" panose="02030602050306030303" pitchFamily="18" charset="0"/>
              </a:defRPr>
            </a:lvl6pPr>
            <a:lvl7pPr marL="2971800" indent="-228600" fontAlgn="base">
              <a:spcBef>
                <a:spcPct val="0"/>
              </a:spcBef>
              <a:spcAft>
                <a:spcPct val="0"/>
              </a:spcAft>
              <a:defRPr>
                <a:solidFill>
                  <a:schemeClr val="tx1"/>
                </a:solidFill>
                <a:latin typeface="Constantia" panose="02030602050306030303" pitchFamily="18" charset="0"/>
              </a:defRPr>
            </a:lvl7pPr>
            <a:lvl8pPr marL="3429000" indent="-228600" fontAlgn="base">
              <a:spcBef>
                <a:spcPct val="0"/>
              </a:spcBef>
              <a:spcAft>
                <a:spcPct val="0"/>
              </a:spcAft>
              <a:defRPr>
                <a:solidFill>
                  <a:schemeClr val="tx1"/>
                </a:solidFill>
                <a:latin typeface="Constantia" panose="02030602050306030303" pitchFamily="18" charset="0"/>
              </a:defRPr>
            </a:lvl8pPr>
            <a:lvl9pPr marL="3886200" indent="-228600" fontAlgn="base">
              <a:spcBef>
                <a:spcPct val="0"/>
              </a:spcBef>
              <a:spcAft>
                <a:spcPct val="0"/>
              </a:spcAft>
              <a:defRPr>
                <a:solidFill>
                  <a:schemeClr val="tx1"/>
                </a:solidFill>
                <a:latin typeface="Constantia" panose="02030602050306030303" pitchFamily="18" charset="0"/>
              </a:defRPr>
            </a:lvl9pPr>
          </a:lstStyle>
          <a:p>
            <a:fld id="{B1AF7106-C555-460B-A3A8-A284CD5C1FB2}" type="slidenum">
              <a:rPr lang="en-US" altLang="en-US">
                <a:solidFill>
                  <a:prstClr val="black"/>
                </a:solidFill>
                <a:latin typeface="Calibri" panose="020F0502020204030204" pitchFamily="34" charset="0"/>
              </a:rPr>
              <a:pPr/>
              <a:t>41</a:t>
            </a:fld>
            <a:endParaRPr lang="en-US" altLang="en-US">
              <a:solidFill>
                <a:prstClr val="black"/>
              </a:solidFill>
              <a:latin typeface="Calibri" panose="020F0502020204030204" pitchFamily="34" charset="0"/>
            </a:endParaRPr>
          </a:p>
        </p:txBody>
      </p:sp>
    </p:spTree>
    <p:extLst>
      <p:ext uri="{BB962C8B-B14F-4D97-AF65-F5344CB8AC3E}">
        <p14:creationId xmlns:p14="http://schemas.microsoft.com/office/powerpoint/2010/main" val="722213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nstantia" panose="02030602050306030303" pitchFamily="18" charset="0"/>
              </a:defRPr>
            </a:lvl1pPr>
            <a:lvl2pPr marL="742950" indent="-285750">
              <a:defRPr>
                <a:solidFill>
                  <a:schemeClr val="tx1"/>
                </a:solidFill>
                <a:latin typeface="Constantia" panose="02030602050306030303" pitchFamily="18" charset="0"/>
              </a:defRPr>
            </a:lvl2pPr>
            <a:lvl3pPr marL="1143000" indent="-228600">
              <a:defRPr>
                <a:solidFill>
                  <a:schemeClr val="tx1"/>
                </a:solidFill>
                <a:latin typeface="Constantia" panose="02030602050306030303" pitchFamily="18" charset="0"/>
              </a:defRPr>
            </a:lvl3pPr>
            <a:lvl4pPr marL="1600200" indent="-228600">
              <a:defRPr>
                <a:solidFill>
                  <a:schemeClr val="tx1"/>
                </a:solidFill>
                <a:latin typeface="Constantia" panose="02030602050306030303" pitchFamily="18" charset="0"/>
              </a:defRPr>
            </a:lvl4pPr>
            <a:lvl5pPr marL="2057400" indent="-228600">
              <a:defRPr>
                <a:solidFill>
                  <a:schemeClr val="tx1"/>
                </a:solidFill>
                <a:latin typeface="Constantia" panose="02030602050306030303" pitchFamily="18" charset="0"/>
              </a:defRPr>
            </a:lvl5pPr>
            <a:lvl6pPr marL="2514600" indent="-228600" fontAlgn="base">
              <a:spcBef>
                <a:spcPct val="0"/>
              </a:spcBef>
              <a:spcAft>
                <a:spcPct val="0"/>
              </a:spcAft>
              <a:defRPr>
                <a:solidFill>
                  <a:schemeClr val="tx1"/>
                </a:solidFill>
                <a:latin typeface="Constantia" panose="02030602050306030303" pitchFamily="18" charset="0"/>
              </a:defRPr>
            </a:lvl6pPr>
            <a:lvl7pPr marL="2971800" indent="-228600" fontAlgn="base">
              <a:spcBef>
                <a:spcPct val="0"/>
              </a:spcBef>
              <a:spcAft>
                <a:spcPct val="0"/>
              </a:spcAft>
              <a:defRPr>
                <a:solidFill>
                  <a:schemeClr val="tx1"/>
                </a:solidFill>
                <a:latin typeface="Constantia" panose="02030602050306030303" pitchFamily="18" charset="0"/>
              </a:defRPr>
            </a:lvl7pPr>
            <a:lvl8pPr marL="3429000" indent="-228600" fontAlgn="base">
              <a:spcBef>
                <a:spcPct val="0"/>
              </a:spcBef>
              <a:spcAft>
                <a:spcPct val="0"/>
              </a:spcAft>
              <a:defRPr>
                <a:solidFill>
                  <a:schemeClr val="tx1"/>
                </a:solidFill>
                <a:latin typeface="Constantia" panose="02030602050306030303" pitchFamily="18" charset="0"/>
              </a:defRPr>
            </a:lvl8pPr>
            <a:lvl9pPr marL="3886200" indent="-228600" fontAlgn="base">
              <a:spcBef>
                <a:spcPct val="0"/>
              </a:spcBef>
              <a:spcAft>
                <a:spcPct val="0"/>
              </a:spcAft>
              <a:defRPr>
                <a:solidFill>
                  <a:schemeClr val="tx1"/>
                </a:solidFill>
                <a:latin typeface="Constantia" panose="02030602050306030303" pitchFamily="18" charset="0"/>
              </a:defRPr>
            </a:lvl9pPr>
          </a:lstStyle>
          <a:p>
            <a:fld id="{8EFEB2A7-26D2-4EAA-BBFF-FC34B14B05FD}" type="slidenum">
              <a:rPr lang="en-US" altLang="en-US">
                <a:solidFill>
                  <a:prstClr val="black"/>
                </a:solidFill>
                <a:latin typeface="Calibri" panose="020F0502020204030204" pitchFamily="34" charset="0"/>
              </a:rPr>
              <a:pPr/>
              <a:t>42</a:t>
            </a:fld>
            <a:endParaRPr lang="en-US" altLang="en-US">
              <a:solidFill>
                <a:prstClr val="black"/>
              </a:solidFill>
              <a:latin typeface="Calibri" panose="020F0502020204030204" pitchFamily="34" charset="0"/>
            </a:endParaRPr>
          </a:p>
        </p:txBody>
      </p:sp>
    </p:spTree>
    <p:extLst>
      <p:ext uri="{BB962C8B-B14F-4D97-AF65-F5344CB8AC3E}">
        <p14:creationId xmlns:p14="http://schemas.microsoft.com/office/powerpoint/2010/main" val="182418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1497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834" y="97707"/>
            <a:ext cx="10515600" cy="376747"/>
          </a:xfrm>
        </p:spPr>
        <p:txBody>
          <a:bodyPr/>
          <a:lstStyle>
            <a:lvl1pPr>
              <a:defRPr>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130834" y="552091"/>
            <a:ext cx="11963400" cy="6169384"/>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58678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97214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1943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21893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92869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046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2333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72106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9989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73473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5897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40535"/>
            <a:ext cx="10515600" cy="533233"/>
          </a:xfrm>
        </p:spPr>
        <p:txBody>
          <a:bodyPr/>
          <a:lstStyle>
            <a:lvl1pPr>
              <a:defRPr>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228599" y="786063"/>
            <a:ext cx="11754853" cy="5935412"/>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525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3996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51785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3632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2593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05520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56293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6551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651064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504133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1311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40535"/>
            <a:ext cx="10515600" cy="533233"/>
          </a:xfrm>
        </p:spPr>
        <p:txBody>
          <a:bodyPr/>
          <a:lstStyle>
            <a:lvl1pPr>
              <a:defRPr>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228599" y="786063"/>
            <a:ext cx="11754853" cy="5935412"/>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09609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2656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433811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99332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25738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255382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311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7170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5179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35565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42869C-9969-4E8D-ADD7-630F3495AB05}"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EEA38-A002-4050-B8FD-2E0894F069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8468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562691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B9815-41A1-4482-A250-75A413825ABA}" type="datetimeFigureOut">
              <a:rPr lang="en-US" smtClean="0">
                <a:solidFill>
                  <a:prstClr val="black">
                    <a:tint val="75000"/>
                  </a:prstClr>
                </a:solidFill>
              </a:rPr>
              <a:pPr/>
              <a:t>3/29/2026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8CA4F5-5904-47CF-9B63-31A23A8064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114400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Cont’d-Convex hull</a:t>
            </a:r>
            <a:endParaRPr lang="en-US" dirty="0"/>
          </a:p>
        </p:txBody>
      </p:sp>
      <p:pic>
        <p:nvPicPr>
          <p:cNvPr id="4" name="Content Placeholder 3"/>
          <p:cNvPicPr>
            <a:picLocks noGrp="1" noChangeAspect="1"/>
          </p:cNvPicPr>
          <p:nvPr>
            <p:ph idx="1"/>
          </p:nvPr>
        </p:nvPicPr>
        <p:blipFill>
          <a:blip r:embed="rId2"/>
          <a:stretch>
            <a:fillRect/>
          </a:stretch>
        </p:blipFill>
        <p:spPr>
          <a:xfrm>
            <a:off x="228600" y="913037"/>
            <a:ext cx="10391274" cy="5582653"/>
          </a:xfrm>
          <a:prstGeom prst="rect">
            <a:avLst/>
          </a:prstGeom>
        </p:spPr>
      </p:pic>
    </p:spTree>
    <p:extLst>
      <p:ext uri="{BB962C8B-B14F-4D97-AF65-F5344CB8AC3E}">
        <p14:creationId xmlns:p14="http://schemas.microsoft.com/office/powerpoint/2010/main" val="4136287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5" name="Content Placeholder 4"/>
          <p:cNvPicPr>
            <a:picLocks noGrp="1" noChangeAspect="1"/>
          </p:cNvPicPr>
          <p:nvPr>
            <p:ph idx="1"/>
          </p:nvPr>
        </p:nvPicPr>
        <p:blipFill>
          <a:blip r:embed="rId2"/>
          <a:stretch>
            <a:fillRect/>
          </a:stretch>
        </p:blipFill>
        <p:spPr>
          <a:xfrm>
            <a:off x="1986181" y="933850"/>
            <a:ext cx="8240275" cy="5639587"/>
          </a:xfrm>
          <a:prstGeom prst="rect">
            <a:avLst/>
          </a:prstGeom>
        </p:spPr>
      </p:pic>
    </p:spTree>
    <p:extLst>
      <p:ext uri="{BB962C8B-B14F-4D97-AF65-F5344CB8AC3E}">
        <p14:creationId xmlns:p14="http://schemas.microsoft.com/office/powerpoint/2010/main" val="3682115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28600" y="825721"/>
            <a:ext cx="11755438" cy="5855845"/>
          </a:xfrm>
          <a:prstGeom prst="rect">
            <a:avLst/>
          </a:prstGeom>
        </p:spPr>
      </p:pic>
    </p:spTree>
    <p:extLst>
      <p:ext uri="{BB962C8B-B14F-4D97-AF65-F5344CB8AC3E}">
        <p14:creationId xmlns:p14="http://schemas.microsoft.com/office/powerpoint/2010/main" val="2704365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28600" y="841402"/>
            <a:ext cx="11755438" cy="5824484"/>
          </a:xfrm>
          <a:prstGeom prst="rect">
            <a:avLst/>
          </a:prstGeom>
        </p:spPr>
      </p:pic>
      <p:pic>
        <p:nvPicPr>
          <p:cNvPr id="5" name="Picture 4"/>
          <p:cNvPicPr>
            <a:picLocks noChangeAspect="1"/>
          </p:cNvPicPr>
          <p:nvPr/>
        </p:nvPicPr>
        <p:blipFill>
          <a:blip r:embed="rId3"/>
          <a:stretch>
            <a:fillRect/>
          </a:stretch>
        </p:blipFill>
        <p:spPr>
          <a:xfrm>
            <a:off x="830881" y="1378804"/>
            <a:ext cx="5249077" cy="1126461"/>
          </a:xfrm>
          <a:prstGeom prst="rect">
            <a:avLst/>
          </a:prstGeom>
        </p:spPr>
      </p:pic>
      <p:pic>
        <p:nvPicPr>
          <p:cNvPr id="6" name="Picture 5"/>
          <p:cNvPicPr>
            <a:picLocks noChangeAspect="1"/>
          </p:cNvPicPr>
          <p:nvPr/>
        </p:nvPicPr>
        <p:blipFill>
          <a:blip r:embed="rId4"/>
          <a:stretch>
            <a:fillRect/>
          </a:stretch>
        </p:blipFill>
        <p:spPr>
          <a:xfrm>
            <a:off x="830881" y="2505265"/>
            <a:ext cx="5104698" cy="1023998"/>
          </a:xfrm>
          <a:prstGeom prst="rect">
            <a:avLst/>
          </a:prstGeom>
        </p:spPr>
      </p:pic>
    </p:spTree>
    <p:extLst>
      <p:ext uri="{BB962C8B-B14F-4D97-AF65-F5344CB8AC3E}">
        <p14:creationId xmlns:p14="http://schemas.microsoft.com/office/powerpoint/2010/main" val="2641286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28600" y="850567"/>
            <a:ext cx="11755438" cy="5806153"/>
          </a:xfrm>
          <a:prstGeom prst="rect">
            <a:avLst/>
          </a:prstGeom>
        </p:spPr>
      </p:pic>
    </p:spTree>
    <p:extLst>
      <p:ext uri="{BB962C8B-B14F-4D97-AF65-F5344CB8AC3E}">
        <p14:creationId xmlns:p14="http://schemas.microsoft.com/office/powerpoint/2010/main" val="1067084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28600" y="1100419"/>
            <a:ext cx="11755438" cy="5306450"/>
          </a:xfrm>
          <a:prstGeom prst="rect">
            <a:avLst/>
          </a:prstGeom>
        </p:spPr>
      </p:pic>
    </p:spTree>
    <p:extLst>
      <p:ext uri="{BB962C8B-B14F-4D97-AF65-F5344CB8AC3E}">
        <p14:creationId xmlns:p14="http://schemas.microsoft.com/office/powerpoint/2010/main" val="2711121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436562" y="841768"/>
            <a:ext cx="11755438" cy="1749057"/>
          </a:xfrm>
          <a:prstGeom prst="rect">
            <a:avLst/>
          </a:prstGeom>
        </p:spPr>
      </p:pic>
      <p:pic>
        <p:nvPicPr>
          <p:cNvPr id="5" name="Picture 4"/>
          <p:cNvPicPr>
            <a:picLocks noChangeAspect="1"/>
          </p:cNvPicPr>
          <p:nvPr/>
        </p:nvPicPr>
        <p:blipFill>
          <a:blip r:embed="rId3"/>
          <a:stretch>
            <a:fillRect/>
          </a:stretch>
        </p:blipFill>
        <p:spPr>
          <a:xfrm>
            <a:off x="436562" y="2943913"/>
            <a:ext cx="11402512" cy="3119816"/>
          </a:xfrm>
          <a:prstGeom prst="rect">
            <a:avLst/>
          </a:prstGeom>
        </p:spPr>
      </p:pic>
    </p:spTree>
    <p:extLst>
      <p:ext uri="{BB962C8B-B14F-4D97-AF65-F5344CB8AC3E}">
        <p14:creationId xmlns:p14="http://schemas.microsoft.com/office/powerpoint/2010/main" val="470687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pPr fontAlgn="base"/>
            <a:r>
              <a:rPr lang="en-US" dirty="0"/>
              <a:t>Using Graham’s scan algorithm, we can find Convex Hull in O(</a:t>
            </a:r>
            <a:r>
              <a:rPr lang="en-US" dirty="0" err="1"/>
              <a:t>nLogn</a:t>
            </a:r>
            <a:r>
              <a:rPr lang="en-US" dirty="0"/>
              <a:t>) time. Following is Graham’s algorithm</a:t>
            </a:r>
          </a:p>
          <a:p>
            <a:pPr fontAlgn="base"/>
            <a:r>
              <a:rPr lang="en-US" dirty="0"/>
              <a:t>Let points[0..n-1] be the input array.</a:t>
            </a:r>
          </a:p>
          <a:p>
            <a:pPr marL="457200" indent="-457200" fontAlgn="base">
              <a:buAutoNum type="arabicPeriod"/>
            </a:pPr>
            <a:r>
              <a:rPr lang="en-US" dirty="0" smtClean="0"/>
              <a:t>Find </a:t>
            </a:r>
            <a:r>
              <a:rPr lang="en-US" dirty="0"/>
              <a:t>the bottom-most point by comparing y coordinate of all points. If there are two points with same y value, then the point with smaller x coordinate value is considered. Let the bottom-most point be P0. Put P0 at first position in output </a:t>
            </a:r>
            <a:r>
              <a:rPr lang="en-US" dirty="0" smtClean="0"/>
              <a:t>hull.</a:t>
            </a:r>
          </a:p>
          <a:p>
            <a:pPr marL="457200" indent="-457200" fontAlgn="base">
              <a:buAutoNum type="arabicPeriod"/>
            </a:pPr>
            <a:r>
              <a:rPr lang="en-US" dirty="0" smtClean="0"/>
              <a:t>Consider </a:t>
            </a:r>
            <a:r>
              <a:rPr lang="en-US" dirty="0"/>
              <a:t>the remaining n-1 points and sort them by </a:t>
            </a:r>
            <a:r>
              <a:rPr lang="en-US" dirty="0" err="1"/>
              <a:t>polor</a:t>
            </a:r>
            <a:r>
              <a:rPr lang="en-US" dirty="0"/>
              <a:t> angle in counterclockwise order around points[0]. If </a:t>
            </a:r>
            <a:r>
              <a:rPr lang="en-US" dirty="0" err="1"/>
              <a:t>polor</a:t>
            </a:r>
            <a:r>
              <a:rPr lang="en-US" dirty="0"/>
              <a:t> angle of two points is same, then put the nearest point </a:t>
            </a:r>
            <a:r>
              <a:rPr lang="en-US" dirty="0" smtClean="0"/>
              <a:t>first.</a:t>
            </a:r>
          </a:p>
          <a:p>
            <a:pPr marL="457200" indent="-457200" fontAlgn="base">
              <a:buAutoNum type="arabicPeriod"/>
            </a:pPr>
            <a:r>
              <a:rPr lang="en-US" dirty="0" smtClean="0"/>
              <a:t>After </a:t>
            </a:r>
            <a:r>
              <a:rPr lang="en-US" dirty="0"/>
              <a:t>sorting, check if two or more points have same angle. If two more points have same angle, then remove all same angle points except the point farthest from P0. Let the size of new array be </a:t>
            </a:r>
            <a:r>
              <a:rPr lang="en-US" dirty="0" smtClean="0"/>
              <a:t>m</a:t>
            </a:r>
          </a:p>
          <a:p>
            <a:pPr marL="457200" indent="-457200" fontAlgn="base">
              <a:buAutoNum type="arabicPeriod"/>
            </a:pPr>
            <a:r>
              <a:rPr lang="en-US" dirty="0"/>
              <a:t>If m is less than 3, return (Convex Hull not possible</a:t>
            </a:r>
            <a:r>
              <a:rPr lang="en-US" dirty="0" smtClean="0"/>
              <a:t>)</a:t>
            </a:r>
            <a:endParaRPr lang="en-US" dirty="0"/>
          </a:p>
          <a:p>
            <a:pPr marL="457200" indent="-457200" fontAlgn="base">
              <a:buAutoNum type="arabicPeriod"/>
            </a:pPr>
            <a:r>
              <a:rPr lang="en-US" dirty="0"/>
              <a:t>Create an empty stack ‘S’ and push points[0], points[1] and points[2] to S.</a:t>
            </a:r>
          </a:p>
        </p:txBody>
      </p:sp>
    </p:spTree>
    <p:extLst>
      <p:ext uri="{BB962C8B-B14F-4D97-AF65-F5344CB8AC3E}">
        <p14:creationId xmlns:p14="http://schemas.microsoft.com/office/powerpoint/2010/main" val="1079500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Process remaining m-3 points one by one. Do following for every point ‘points[</a:t>
            </a:r>
            <a:r>
              <a:rPr lang="en-US" dirty="0" err="1"/>
              <a:t>i</a:t>
            </a:r>
            <a:r>
              <a:rPr lang="en-US" dirty="0"/>
              <a:t>]’</a:t>
            </a:r>
          </a:p>
          <a:p>
            <a:pPr marL="0" indent="0">
              <a:buNone/>
            </a:pPr>
            <a:r>
              <a:rPr lang="en-US" dirty="0"/>
              <a:t>4.1) Keep removing points from stack while orientation of following 3 points is not counterclockwise (or they don’t make a left turn).</a:t>
            </a:r>
          </a:p>
          <a:p>
            <a:pPr marL="457200" lvl="1" indent="0">
              <a:buNone/>
            </a:pPr>
            <a:r>
              <a:rPr lang="en-US" dirty="0"/>
              <a:t>a) Point next to top in stack</a:t>
            </a:r>
          </a:p>
          <a:p>
            <a:pPr marL="457200" lvl="1" indent="0">
              <a:buNone/>
            </a:pPr>
            <a:r>
              <a:rPr lang="en-US" dirty="0"/>
              <a:t>b) Point at the top of stack</a:t>
            </a:r>
          </a:p>
          <a:p>
            <a:pPr marL="457200" lvl="1" indent="0">
              <a:buNone/>
            </a:pPr>
            <a:r>
              <a:rPr lang="en-US" dirty="0"/>
              <a:t>c) points[</a:t>
            </a:r>
            <a:r>
              <a:rPr lang="en-US" dirty="0" err="1"/>
              <a:t>i</a:t>
            </a:r>
            <a:r>
              <a:rPr lang="en-US" dirty="0"/>
              <a:t>]</a:t>
            </a:r>
          </a:p>
          <a:p>
            <a:pPr marL="0" indent="0">
              <a:buNone/>
            </a:pPr>
            <a:r>
              <a:rPr lang="en-US" dirty="0"/>
              <a:t>4.2) Push points[</a:t>
            </a:r>
            <a:r>
              <a:rPr lang="en-US" dirty="0" err="1"/>
              <a:t>i</a:t>
            </a:r>
            <a:r>
              <a:rPr lang="en-US" dirty="0"/>
              <a:t>] to S</a:t>
            </a:r>
          </a:p>
          <a:p>
            <a:endParaRPr lang="en-US" dirty="0"/>
          </a:p>
          <a:p>
            <a:r>
              <a:rPr lang="en-US" dirty="0"/>
              <a:t>Print contents of S</a:t>
            </a:r>
          </a:p>
        </p:txBody>
      </p:sp>
    </p:spTree>
    <p:extLst>
      <p:ext uri="{BB962C8B-B14F-4D97-AF65-F5344CB8AC3E}">
        <p14:creationId xmlns:p14="http://schemas.microsoft.com/office/powerpoint/2010/main" val="2632125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pPr marL="0" indent="0">
              <a:buNone/>
            </a:pPr>
            <a:r>
              <a:rPr lang="en-US" b="1" dirty="0"/>
              <a:t>The above algorithm can be divided in two phases</a:t>
            </a:r>
            <a:r>
              <a:rPr lang="en-US" b="1" dirty="0" smtClean="0"/>
              <a:t>.</a:t>
            </a:r>
            <a:endParaRPr lang="en-US" b="1" dirty="0"/>
          </a:p>
          <a:p>
            <a:pPr marL="0" indent="0">
              <a:buNone/>
            </a:pPr>
            <a:r>
              <a:rPr lang="en-US" b="1" dirty="0"/>
              <a:t>Phase 1 (Sort points):</a:t>
            </a:r>
            <a:r>
              <a:rPr lang="en-US" dirty="0"/>
              <a:t> We first find the bottom-most point. The idea is to pre-process points be sorting them with respect to the bottom-most point. Once the points are sorted, they form a simple closed </a:t>
            </a:r>
            <a:r>
              <a:rPr lang="en-US" dirty="0" smtClean="0"/>
              <a:t>path.</a:t>
            </a:r>
            <a:endParaRPr lang="en-US" dirty="0"/>
          </a:p>
          <a:p>
            <a:r>
              <a:rPr lang="en-US" b="1" dirty="0"/>
              <a:t>What should be the sorting criteria?</a:t>
            </a:r>
            <a:r>
              <a:rPr lang="en-US" dirty="0"/>
              <a:t> </a:t>
            </a:r>
            <a:endParaRPr lang="en-US" dirty="0" smtClean="0"/>
          </a:p>
          <a:p>
            <a:pPr lvl="1"/>
            <a:r>
              <a:rPr lang="en-US" dirty="0" smtClean="0"/>
              <a:t>computation </a:t>
            </a:r>
            <a:r>
              <a:rPr lang="en-US" dirty="0"/>
              <a:t>of actual angles would be inefficient since trigonometric functions are not simple to </a:t>
            </a:r>
            <a:r>
              <a:rPr lang="en-US" dirty="0" smtClean="0"/>
              <a:t>evaluate</a:t>
            </a:r>
          </a:p>
          <a:p>
            <a:pPr lvl="1"/>
            <a:r>
              <a:rPr lang="en-US" dirty="0" smtClean="0"/>
              <a:t>The </a:t>
            </a:r>
            <a:r>
              <a:rPr lang="en-US" dirty="0"/>
              <a:t>idea is to use the orientation to compare angles without actually computing </a:t>
            </a:r>
            <a:r>
              <a:rPr lang="en-US" dirty="0" smtClean="0"/>
              <a:t>them</a:t>
            </a:r>
          </a:p>
          <a:p>
            <a:endParaRPr lang="en-US" dirty="0"/>
          </a:p>
        </p:txBody>
      </p:sp>
      <p:pic>
        <p:nvPicPr>
          <p:cNvPr id="5" name="Picture 4"/>
          <p:cNvPicPr>
            <a:picLocks noChangeAspect="1"/>
          </p:cNvPicPr>
          <p:nvPr/>
        </p:nvPicPr>
        <p:blipFill>
          <a:blip r:embed="rId2"/>
          <a:stretch>
            <a:fillRect/>
          </a:stretch>
        </p:blipFill>
        <p:spPr>
          <a:xfrm>
            <a:off x="1844842" y="3882188"/>
            <a:ext cx="9079831" cy="2839287"/>
          </a:xfrm>
          <a:prstGeom prst="rect">
            <a:avLst/>
          </a:prstGeom>
        </p:spPr>
      </p:pic>
    </p:spTree>
    <p:extLst>
      <p:ext uri="{BB962C8B-B14F-4D97-AF65-F5344CB8AC3E}">
        <p14:creationId xmlns:p14="http://schemas.microsoft.com/office/powerpoint/2010/main" val="4222281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pPr marL="0" indent="0">
              <a:buNone/>
            </a:pPr>
            <a:r>
              <a:rPr lang="en-US" b="1" dirty="0"/>
              <a:t>Phase 2 (Accept or Reject Points):</a:t>
            </a:r>
            <a:r>
              <a:rPr lang="en-US" dirty="0"/>
              <a:t> </a:t>
            </a:r>
            <a:endParaRPr lang="en-US" dirty="0" smtClean="0"/>
          </a:p>
          <a:p>
            <a:r>
              <a:rPr lang="en-US" dirty="0" smtClean="0"/>
              <a:t>Once </a:t>
            </a:r>
            <a:r>
              <a:rPr lang="en-US" dirty="0"/>
              <a:t>we have the closed path, the next step is to traverse the path and remove concave points on this </a:t>
            </a:r>
            <a:r>
              <a:rPr lang="en-US" dirty="0" smtClean="0"/>
              <a:t>path</a:t>
            </a:r>
          </a:p>
          <a:p>
            <a:r>
              <a:rPr lang="en-US" dirty="0" smtClean="0"/>
              <a:t>How </a:t>
            </a:r>
            <a:r>
              <a:rPr lang="en-US" dirty="0"/>
              <a:t>to decide which point to remove and which to keep? Again, orientation helps </a:t>
            </a:r>
            <a:r>
              <a:rPr lang="en-US" dirty="0" smtClean="0"/>
              <a:t>here</a:t>
            </a:r>
          </a:p>
          <a:p>
            <a:r>
              <a:rPr lang="en-US" dirty="0" smtClean="0"/>
              <a:t>The </a:t>
            </a:r>
            <a:r>
              <a:rPr lang="en-US" dirty="0"/>
              <a:t>first two points in sorted array are always part of Convex </a:t>
            </a:r>
            <a:r>
              <a:rPr lang="en-US" dirty="0" smtClean="0"/>
              <a:t>Hull</a:t>
            </a:r>
          </a:p>
          <a:p>
            <a:r>
              <a:rPr lang="en-US" dirty="0" smtClean="0"/>
              <a:t>For </a:t>
            </a:r>
            <a:r>
              <a:rPr lang="en-US" dirty="0"/>
              <a:t>remaining points, we keep track of recent three points, and find the angle formed by </a:t>
            </a:r>
            <a:r>
              <a:rPr lang="en-US" dirty="0" smtClean="0"/>
              <a:t>them</a:t>
            </a:r>
          </a:p>
          <a:p>
            <a:r>
              <a:rPr lang="en-US" dirty="0" smtClean="0"/>
              <a:t>Let </a:t>
            </a:r>
            <a:r>
              <a:rPr lang="en-US" dirty="0"/>
              <a:t>the three points be </a:t>
            </a:r>
            <a:r>
              <a:rPr lang="en-US" dirty="0" err="1"/>
              <a:t>prev</a:t>
            </a:r>
            <a:r>
              <a:rPr lang="en-US" dirty="0"/>
              <a:t>(p), </a:t>
            </a:r>
            <a:r>
              <a:rPr lang="en-US" dirty="0" err="1"/>
              <a:t>curr</a:t>
            </a:r>
            <a:r>
              <a:rPr lang="en-US" dirty="0"/>
              <a:t>(c) and </a:t>
            </a:r>
            <a:r>
              <a:rPr lang="en-US" dirty="0" smtClean="0"/>
              <a:t>next(n)</a:t>
            </a:r>
          </a:p>
          <a:p>
            <a:r>
              <a:rPr lang="en-US" dirty="0" smtClean="0"/>
              <a:t>If </a:t>
            </a:r>
            <a:r>
              <a:rPr lang="en-US" dirty="0"/>
              <a:t>orientation of these points (considering them in same order) is not counterclockwise, we discard c, otherwise we keep </a:t>
            </a:r>
            <a:r>
              <a:rPr lang="en-US" dirty="0" smtClean="0"/>
              <a:t>it</a:t>
            </a:r>
            <a:endParaRPr lang="en-US" dirty="0"/>
          </a:p>
        </p:txBody>
      </p:sp>
    </p:spTree>
    <p:extLst>
      <p:ext uri="{BB962C8B-B14F-4D97-AF65-F5344CB8AC3E}">
        <p14:creationId xmlns:p14="http://schemas.microsoft.com/office/powerpoint/2010/main" val="490553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Following diagram shows step by step process of this </a:t>
            </a:r>
            <a:r>
              <a:rPr lang="en-US" dirty="0" smtClean="0"/>
              <a:t>phase:</a:t>
            </a:r>
          </a:p>
          <a:p>
            <a:endParaRPr lang="en-US" dirty="0"/>
          </a:p>
        </p:txBody>
      </p:sp>
      <p:pic>
        <p:nvPicPr>
          <p:cNvPr id="4" name="Picture 3"/>
          <p:cNvPicPr>
            <a:picLocks noChangeAspect="1"/>
          </p:cNvPicPr>
          <p:nvPr/>
        </p:nvPicPr>
        <p:blipFill>
          <a:blip r:embed="rId2"/>
          <a:stretch>
            <a:fillRect/>
          </a:stretch>
        </p:blipFill>
        <p:spPr>
          <a:xfrm>
            <a:off x="1106904" y="1424836"/>
            <a:ext cx="10234863" cy="5296639"/>
          </a:xfrm>
          <a:prstGeom prst="rect">
            <a:avLst/>
          </a:prstGeom>
        </p:spPr>
      </p:pic>
    </p:spTree>
    <p:extLst>
      <p:ext uri="{BB962C8B-B14F-4D97-AF65-F5344CB8AC3E}">
        <p14:creationId xmlns:p14="http://schemas.microsoft.com/office/powerpoint/2010/main" val="1141216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627787" y="785813"/>
            <a:ext cx="8957063" cy="5935662"/>
          </a:xfrm>
          <a:prstGeom prst="rect">
            <a:avLst/>
          </a:prstGeom>
        </p:spPr>
      </p:pic>
    </p:spTree>
    <p:extLst>
      <p:ext uri="{BB962C8B-B14F-4D97-AF65-F5344CB8AC3E}">
        <p14:creationId xmlns:p14="http://schemas.microsoft.com/office/powerpoint/2010/main" val="270529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Cont’d</a:t>
            </a:r>
            <a:endParaRPr lang="en-US"/>
          </a:p>
        </p:txBody>
      </p:sp>
      <p:pic>
        <p:nvPicPr>
          <p:cNvPr id="4" name="Content Placeholder 3"/>
          <p:cNvPicPr>
            <a:picLocks noGrp="1" noChangeAspect="1"/>
          </p:cNvPicPr>
          <p:nvPr>
            <p:ph idx="1"/>
          </p:nvPr>
        </p:nvPicPr>
        <p:blipFill>
          <a:blip r:embed="rId2"/>
          <a:stretch>
            <a:fillRect/>
          </a:stretch>
        </p:blipFill>
        <p:spPr>
          <a:xfrm>
            <a:off x="2029050" y="790955"/>
            <a:ext cx="8154538" cy="5925377"/>
          </a:xfrm>
          <a:prstGeom prst="rect">
            <a:avLst/>
          </a:prstGeom>
        </p:spPr>
      </p:pic>
    </p:spTree>
    <p:extLst>
      <p:ext uri="{BB962C8B-B14F-4D97-AF65-F5344CB8AC3E}">
        <p14:creationId xmlns:p14="http://schemas.microsoft.com/office/powerpoint/2010/main" val="2586592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314575" y="1381588"/>
            <a:ext cx="9583487" cy="4744112"/>
          </a:xfrm>
          <a:prstGeom prst="rect">
            <a:avLst/>
          </a:prstGeom>
        </p:spPr>
      </p:pic>
    </p:spTree>
    <p:extLst>
      <p:ext uri="{BB962C8B-B14F-4D97-AF65-F5344CB8AC3E}">
        <p14:creationId xmlns:p14="http://schemas.microsoft.com/office/powerpoint/2010/main" val="240263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247891" y="1467325"/>
            <a:ext cx="9716856" cy="4572638"/>
          </a:xfrm>
          <a:prstGeom prst="rect">
            <a:avLst/>
          </a:prstGeom>
        </p:spPr>
      </p:pic>
    </p:spTree>
    <p:extLst>
      <p:ext uri="{BB962C8B-B14F-4D97-AF65-F5344CB8AC3E}">
        <p14:creationId xmlns:p14="http://schemas.microsoft.com/office/powerpoint/2010/main" val="2546959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014496" y="1000535"/>
            <a:ext cx="10183646" cy="5506218"/>
          </a:xfrm>
          <a:prstGeom prst="rect">
            <a:avLst/>
          </a:prstGeom>
        </p:spPr>
      </p:pic>
    </p:spTree>
    <p:extLst>
      <p:ext uri="{BB962C8B-B14F-4D97-AF65-F5344CB8AC3E}">
        <p14:creationId xmlns:p14="http://schemas.microsoft.com/office/powerpoint/2010/main" val="1278664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157391" y="1386351"/>
            <a:ext cx="9897856" cy="4734586"/>
          </a:xfrm>
          <a:prstGeom prst="rect">
            <a:avLst/>
          </a:prstGeom>
        </p:spPr>
      </p:pic>
    </p:spTree>
    <p:extLst>
      <p:ext uri="{BB962C8B-B14F-4D97-AF65-F5344CB8AC3E}">
        <p14:creationId xmlns:p14="http://schemas.microsoft.com/office/powerpoint/2010/main" val="3494490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004969" y="1276798"/>
            <a:ext cx="10202699" cy="4953691"/>
          </a:xfrm>
          <a:prstGeom prst="rect">
            <a:avLst/>
          </a:prstGeom>
        </p:spPr>
      </p:pic>
    </p:spTree>
    <p:extLst>
      <p:ext uri="{BB962C8B-B14F-4D97-AF65-F5344CB8AC3E}">
        <p14:creationId xmlns:p14="http://schemas.microsoft.com/office/powerpoint/2010/main" val="357584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805181" y="1719772"/>
            <a:ext cx="8602275" cy="4067743"/>
          </a:xfrm>
          <a:prstGeom prst="rect">
            <a:avLst/>
          </a:prstGeom>
        </p:spPr>
      </p:pic>
    </p:spTree>
    <p:extLst>
      <p:ext uri="{BB962C8B-B14F-4D97-AF65-F5344CB8AC3E}">
        <p14:creationId xmlns:p14="http://schemas.microsoft.com/office/powerpoint/2010/main" val="1812410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833495" y="1495904"/>
            <a:ext cx="10545647" cy="4515480"/>
          </a:xfrm>
          <a:prstGeom prst="rect">
            <a:avLst/>
          </a:prstGeom>
        </p:spPr>
      </p:pic>
    </p:spTree>
    <p:extLst>
      <p:ext uri="{BB962C8B-B14F-4D97-AF65-F5344CB8AC3E}">
        <p14:creationId xmlns:p14="http://schemas.microsoft.com/office/powerpoint/2010/main" val="2920185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590839" y="1653088"/>
            <a:ext cx="9030960" cy="4201111"/>
          </a:xfrm>
          <a:prstGeom prst="rect">
            <a:avLst/>
          </a:prstGeom>
        </p:spPr>
      </p:pic>
    </p:spTree>
    <p:extLst>
      <p:ext uri="{BB962C8B-B14F-4D97-AF65-F5344CB8AC3E}">
        <p14:creationId xmlns:p14="http://schemas.microsoft.com/office/powerpoint/2010/main" val="850925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895417" y="814771"/>
            <a:ext cx="10421804" cy="5877745"/>
          </a:xfrm>
          <a:prstGeom prst="rect">
            <a:avLst/>
          </a:prstGeom>
        </p:spPr>
      </p:pic>
    </p:spTree>
    <p:extLst>
      <p:ext uri="{BB962C8B-B14F-4D97-AF65-F5344CB8AC3E}">
        <p14:creationId xmlns:p14="http://schemas.microsoft.com/office/powerpoint/2010/main" val="3595882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137238" y="785813"/>
            <a:ext cx="7938161" cy="5935662"/>
          </a:xfrm>
          <a:prstGeom prst="rect">
            <a:avLst/>
          </a:prstGeom>
        </p:spPr>
      </p:pic>
    </p:spTree>
    <p:extLst>
      <p:ext uri="{BB962C8B-B14F-4D97-AF65-F5344CB8AC3E}">
        <p14:creationId xmlns:p14="http://schemas.microsoft.com/office/powerpoint/2010/main" val="505711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547970" y="1114850"/>
            <a:ext cx="9116697" cy="5277587"/>
          </a:xfrm>
          <a:prstGeom prst="rect">
            <a:avLst/>
          </a:prstGeom>
        </p:spPr>
      </p:pic>
    </p:spTree>
    <p:extLst>
      <p:ext uri="{BB962C8B-B14F-4D97-AF65-F5344CB8AC3E}">
        <p14:creationId xmlns:p14="http://schemas.microsoft.com/office/powerpoint/2010/main" val="2464837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033813" y="1033877"/>
            <a:ext cx="8145012" cy="5439534"/>
          </a:xfrm>
          <a:prstGeom prst="rect">
            <a:avLst/>
          </a:prstGeom>
        </p:spPr>
      </p:pic>
    </p:spTree>
    <p:extLst>
      <p:ext uri="{BB962C8B-B14F-4D97-AF65-F5344CB8AC3E}">
        <p14:creationId xmlns:p14="http://schemas.microsoft.com/office/powerpoint/2010/main" val="2885337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28600" y="673768"/>
            <a:ext cx="11755438" cy="2722905"/>
          </a:xfrm>
          <a:prstGeom prst="rect">
            <a:avLst/>
          </a:prstGeom>
        </p:spPr>
      </p:pic>
      <p:pic>
        <p:nvPicPr>
          <p:cNvPr id="5" name="Picture 4"/>
          <p:cNvPicPr>
            <a:picLocks noChangeAspect="1"/>
          </p:cNvPicPr>
          <p:nvPr/>
        </p:nvPicPr>
        <p:blipFill>
          <a:blip r:embed="rId3"/>
          <a:stretch>
            <a:fillRect/>
          </a:stretch>
        </p:blipFill>
        <p:spPr>
          <a:xfrm>
            <a:off x="228600" y="2710888"/>
            <a:ext cx="11509585" cy="4147112"/>
          </a:xfrm>
          <a:prstGeom prst="rect">
            <a:avLst/>
          </a:prstGeom>
        </p:spPr>
      </p:pic>
    </p:spTree>
    <p:extLst>
      <p:ext uri="{BB962C8B-B14F-4D97-AF65-F5344CB8AC3E}">
        <p14:creationId xmlns:p14="http://schemas.microsoft.com/office/powerpoint/2010/main" val="1183097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852813" y="1429219"/>
            <a:ext cx="8507012" cy="4648849"/>
          </a:xfrm>
          <a:prstGeom prst="rect">
            <a:avLst/>
          </a:prstGeom>
        </p:spPr>
      </p:pic>
    </p:spTree>
    <p:extLst>
      <p:ext uri="{BB962C8B-B14F-4D97-AF65-F5344CB8AC3E}">
        <p14:creationId xmlns:p14="http://schemas.microsoft.com/office/powerpoint/2010/main" val="1320540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Perhaps the simplest algorithm for computing convex hulls simply simulates the process of wrapping a piece of string around the </a:t>
            </a:r>
            <a:r>
              <a:rPr lang="en-US" dirty="0" smtClean="0"/>
              <a:t>points</a:t>
            </a:r>
          </a:p>
          <a:p>
            <a:r>
              <a:rPr lang="en-US" dirty="0" smtClean="0"/>
              <a:t>This </a:t>
            </a:r>
            <a:r>
              <a:rPr lang="en-US" dirty="0"/>
              <a:t>algorithm is usually called </a:t>
            </a:r>
            <a:r>
              <a:rPr lang="en-US" b="1" dirty="0"/>
              <a:t>Jarvis’s march</a:t>
            </a:r>
            <a:r>
              <a:rPr lang="en-US" dirty="0"/>
              <a:t>, but it is also referred to as the </a:t>
            </a:r>
            <a:r>
              <a:rPr lang="en-US" b="1" dirty="0"/>
              <a:t>gift-wrapping </a:t>
            </a:r>
            <a:r>
              <a:rPr lang="en-US" b="1" dirty="0" smtClean="0"/>
              <a:t>algorithm</a:t>
            </a:r>
            <a:endParaRPr lang="en-US" dirty="0" smtClean="0"/>
          </a:p>
          <a:p>
            <a:r>
              <a:rPr lang="en-US" dirty="0"/>
              <a:t> Jarvis’s march starts by computing the leftmost point ` (that is, the point whose x-coordinate is smallest), because we know that the left most point must be a convex hull </a:t>
            </a:r>
            <a:r>
              <a:rPr lang="en-US" dirty="0" smtClean="0"/>
              <a:t>vertex</a:t>
            </a:r>
          </a:p>
          <a:p>
            <a:r>
              <a:rPr lang="en-US" dirty="0" smtClean="0"/>
              <a:t>Finding </a:t>
            </a:r>
            <a:r>
              <a:rPr lang="en-US" i="1" dirty="0" smtClean="0"/>
              <a:t>l</a:t>
            </a:r>
            <a:r>
              <a:rPr lang="en-US" dirty="0" smtClean="0"/>
              <a:t> </a:t>
            </a:r>
            <a:r>
              <a:rPr lang="en-US" dirty="0"/>
              <a:t>clearly takes linear </a:t>
            </a:r>
            <a:r>
              <a:rPr lang="en-US" dirty="0" smtClean="0"/>
              <a:t>time</a:t>
            </a:r>
          </a:p>
          <a:p>
            <a:r>
              <a:rPr lang="en-US" dirty="0"/>
              <a:t>Then the algorithm does a series of pivoting steps to find each successive convex hull vertex, starting with </a:t>
            </a:r>
            <a:r>
              <a:rPr lang="en-US" i="1" dirty="0" smtClean="0"/>
              <a:t>l</a:t>
            </a:r>
            <a:r>
              <a:rPr lang="en-US" dirty="0" smtClean="0"/>
              <a:t> </a:t>
            </a:r>
            <a:r>
              <a:rPr lang="en-US" dirty="0"/>
              <a:t>and continuing until we reach </a:t>
            </a:r>
            <a:r>
              <a:rPr lang="en-US" i="1" dirty="0" smtClean="0"/>
              <a:t>l</a:t>
            </a:r>
            <a:r>
              <a:rPr lang="en-US" dirty="0" smtClean="0"/>
              <a:t> again</a:t>
            </a:r>
          </a:p>
          <a:p>
            <a:r>
              <a:rPr lang="en-US" dirty="0" smtClean="0"/>
              <a:t>The </a:t>
            </a:r>
            <a:r>
              <a:rPr lang="en-US" dirty="0"/>
              <a:t>vertex immediately following a point p is the point that appears to be furthest to the right to someone standing at p and looking at the other </a:t>
            </a:r>
            <a:r>
              <a:rPr lang="en-US" dirty="0" smtClean="0"/>
              <a:t>points</a:t>
            </a:r>
          </a:p>
          <a:p>
            <a:r>
              <a:rPr lang="en-US" dirty="0" smtClean="0"/>
              <a:t>In </a:t>
            </a:r>
            <a:r>
              <a:rPr lang="en-US" dirty="0"/>
              <a:t>other words, if q is the vertex following p, and r is any other input point, then the triple p, </a:t>
            </a:r>
            <a:r>
              <a:rPr lang="en-US" dirty="0" err="1"/>
              <a:t>q,r</a:t>
            </a:r>
            <a:r>
              <a:rPr lang="en-US" dirty="0"/>
              <a:t> is in counter-clockwise </a:t>
            </a:r>
            <a:r>
              <a:rPr lang="en-US" dirty="0" smtClean="0"/>
              <a:t>order</a:t>
            </a:r>
          </a:p>
          <a:p>
            <a:r>
              <a:rPr lang="en-US" dirty="0" smtClean="0"/>
              <a:t>We </a:t>
            </a:r>
            <a:r>
              <a:rPr lang="en-US" dirty="0"/>
              <a:t>can find each successive vertex in linear time by performing a series of O(n) counter-clockwise tests.</a:t>
            </a:r>
          </a:p>
        </p:txBody>
      </p:sp>
    </p:spTree>
    <p:extLst>
      <p:ext uri="{BB962C8B-B14F-4D97-AF65-F5344CB8AC3E}">
        <p14:creationId xmlns:p14="http://schemas.microsoft.com/office/powerpoint/2010/main" val="3087682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Since the algorithm spends O(n) time for each convex hull vertex, the worst-case running time is </a:t>
            </a:r>
            <a:r>
              <a:rPr lang="en-US" dirty="0" smtClean="0"/>
              <a:t>O(n</a:t>
            </a:r>
            <a:r>
              <a:rPr lang="en-US" baseline="30000" dirty="0" smtClean="0"/>
              <a:t>2</a:t>
            </a:r>
            <a:r>
              <a:rPr lang="en-US" dirty="0" smtClean="0"/>
              <a:t> )</a:t>
            </a:r>
          </a:p>
          <a:p>
            <a:r>
              <a:rPr lang="en-US" dirty="0" smtClean="0"/>
              <a:t>However</a:t>
            </a:r>
            <a:r>
              <a:rPr lang="en-US" dirty="0"/>
              <a:t>, this naïve analysis hides the fact that if the convex hull has very few vertices, Jarvis’s march is extremely </a:t>
            </a:r>
            <a:r>
              <a:rPr lang="en-US" dirty="0" smtClean="0"/>
              <a:t>fast</a:t>
            </a:r>
          </a:p>
          <a:p>
            <a:r>
              <a:rPr lang="en-US" dirty="0" smtClean="0"/>
              <a:t>A </a:t>
            </a:r>
            <a:r>
              <a:rPr lang="en-US" dirty="0"/>
              <a:t>better way to write the running time is O(</a:t>
            </a:r>
            <a:r>
              <a:rPr lang="en-US" dirty="0" err="1"/>
              <a:t>nh</a:t>
            </a:r>
            <a:r>
              <a:rPr lang="en-US" dirty="0"/>
              <a:t>), where h is the number of convex hull </a:t>
            </a:r>
            <a:r>
              <a:rPr lang="en-US" dirty="0" smtClean="0"/>
              <a:t>vertices</a:t>
            </a:r>
          </a:p>
          <a:p>
            <a:r>
              <a:rPr lang="en-US" dirty="0" smtClean="0"/>
              <a:t>In </a:t>
            </a:r>
            <a:r>
              <a:rPr lang="en-US" dirty="0"/>
              <a:t>the worst case, h = n, and we get our old </a:t>
            </a:r>
            <a:r>
              <a:rPr lang="en-US" dirty="0" smtClean="0"/>
              <a:t>O(n</a:t>
            </a:r>
            <a:r>
              <a:rPr lang="en-US" baseline="30000" dirty="0" smtClean="0"/>
              <a:t>2</a:t>
            </a:r>
            <a:r>
              <a:rPr lang="en-US" dirty="0" smtClean="0"/>
              <a:t> </a:t>
            </a:r>
            <a:r>
              <a:rPr lang="en-US" dirty="0"/>
              <a:t>) time bound, but in the best case h = 3, and the algorithm only needs O(n) </a:t>
            </a:r>
            <a:r>
              <a:rPr lang="en-US" dirty="0" smtClean="0"/>
              <a:t>time</a:t>
            </a:r>
          </a:p>
          <a:p>
            <a:r>
              <a:rPr lang="en-US" dirty="0" smtClean="0"/>
              <a:t>Computational </a:t>
            </a:r>
            <a:r>
              <a:rPr lang="en-US" dirty="0"/>
              <a:t>geometers call this an output-sensitive algorithm; the smaller the output, the faster the algorithm</a:t>
            </a:r>
          </a:p>
        </p:txBody>
      </p:sp>
    </p:spTree>
    <p:extLst>
      <p:ext uri="{BB962C8B-B14F-4D97-AF65-F5344CB8AC3E}">
        <p14:creationId xmlns:p14="http://schemas.microsoft.com/office/powerpoint/2010/main" val="948305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424023" y="1717768"/>
            <a:ext cx="5394336" cy="4693376"/>
          </a:xfrm>
          <a:prstGeom prst="rect">
            <a:avLst/>
          </a:prstGeom>
        </p:spPr>
      </p:pic>
    </p:spTree>
    <p:extLst>
      <p:ext uri="{BB962C8B-B14F-4D97-AF65-F5344CB8AC3E}">
        <p14:creationId xmlns:p14="http://schemas.microsoft.com/office/powerpoint/2010/main" val="2774160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Cont’d-Example</a:t>
            </a:r>
            <a:endParaRPr lang="en-US" dirty="0"/>
          </a:p>
        </p:txBody>
      </p:sp>
      <p:pic>
        <p:nvPicPr>
          <p:cNvPr id="4" name="Content Placeholder 3"/>
          <p:cNvPicPr>
            <a:picLocks noGrp="1" noChangeAspect="1"/>
          </p:cNvPicPr>
          <p:nvPr>
            <p:ph idx="1"/>
          </p:nvPr>
        </p:nvPicPr>
        <p:blipFill>
          <a:blip r:embed="rId2"/>
          <a:stretch>
            <a:fillRect/>
          </a:stretch>
        </p:blipFill>
        <p:spPr>
          <a:xfrm>
            <a:off x="2891818" y="1740735"/>
            <a:ext cx="6325483" cy="3715268"/>
          </a:xfrm>
          <a:prstGeom prst="rect">
            <a:avLst/>
          </a:prstGeom>
        </p:spPr>
      </p:pic>
    </p:spTree>
    <p:extLst>
      <p:ext uri="{BB962C8B-B14F-4D97-AF65-F5344CB8AC3E}">
        <p14:creationId xmlns:p14="http://schemas.microsoft.com/office/powerpoint/2010/main" val="4027037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933786" y="1748351"/>
            <a:ext cx="8345065" cy="4010585"/>
          </a:xfrm>
          <a:prstGeom prst="rect">
            <a:avLst/>
          </a:prstGeom>
        </p:spPr>
      </p:pic>
    </p:spTree>
    <p:extLst>
      <p:ext uri="{BB962C8B-B14F-4D97-AF65-F5344CB8AC3E}">
        <p14:creationId xmlns:p14="http://schemas.microsoft.com/office/powerpoint/2010/main" val="705358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176708" y="1848378"/>
            <a:ext cx="7859222" cy="3810532"/>
          </a:xfrm>
          <a:prstGeom prst="rect">
            <a:avLst/>
          </a:prstGeom>
        </p:spPr>
      </p:pic>
    </p:spTree>
    <p:extLst>
      <p:ext uri="{BB962C8B-B14F-4D97-AF65-F5344CB8AC3E}">
        <p14:creationId xmlns:p14="http://schemas.microsoft.com/office/powerpoint/2010/main" val="29334588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741833" y="508738"/>
            <a:ext cx="8573696" cy="4229690"/>
          </a:xfrm>
          <a:prstGeom prst="rect">
            <a:avLst/>
          </a:prstGeom>
        </p:spPr>
      </p:pic>
      <p:pic>
        <p:nvPicPr>
          <p:cNvPr id="5" name="Picture 4"/>
          <p:cNvPicPr>
            <a:picLocks noChangeAspect="1"/>
          </p:cNvPicPr>
          <p:nvPr/>
        </p:nvPicPr>
        <p:blipFill>
          <a:blip r:embed="rId3"/>
          <a:stretch>
            <a:fillRect/>
          </a:stretch>
        </p:blipFill>
        <p:spPr>
          <a:xfrm>
            <a:off x="1022329" y="4738428"/>
            <a:ext cx="10164594" cy="2001134"/>
          </a:xfrm>
          <a:prstGeom prst="rect">
            <a:avLst/>
          </a:prstGeom>
        </p:spPr>
      </p:pic>
    </p:spTree>
    <p:extLst>
      <p:ext uri="{BB962C8B-B14F-4D97-AF65-F5344CB8AC3E}">
        <p14:creationId xmlns:p14="http://schemas.microsoft.com/office/powerpoint/2010/main" val="900283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An algorithm that uses random numbers to decide what to do next anywhere in its logic is called a </a:t>
            </a:r>
            <a:r>
              <a:rPr lang="en-US" b="1" dirty="0"/>
              <a:t>Randomized </a:t>
            </a:r>
            <a:r>
              <a:rPr lang="en-US" b="1" dirty="0" smtClean="0"/>
              <a:t>Algorithm</a:t>
            </a:r>
          </a:p>
          <a:p>
            <a:r>
              <a:rPr lang="en-US" dirty="0" smtClean="0"/>
              <a:t>For </a:t>
            </a:r>
            <a:r>
              <a:rPr lang="en-US" dirty="0"/>
              <a:t>example, in Randomized Quick Sort, we use a random number to pick the next pivot (or we randomly shuffle the array</a:t>
            </a:r>
            <a:r>
              <a:rPr lang="en-US" dirty="0" smtClean="0"/>
              <a:t>)</a:t>
            </a:r>
          </a:p>
          <a:p>
            <a:r>
              <a:rPr lang="en-US" dirty="0" smtClean="0"/>
              <a:t>And </a:t>
            </a:r>
            <a:r>
              <a:rPr lang="en-US" dirty="0"/>
              <a:t>in Karger’s</a:t>
            </a:r>
            <a:r>
              <a:rPr lang="en-US" u="sng" dirty="0"/>
              <a:t> </a:t>
            </a:r>
            <a:r>
              <a:rPr lang="en-US" dirty="0"/>
              <a:t>algorithm, we randomly pick an </a:t>
            </a:r>
            <a:r>
              <a:rPr lang="en-US" dirty="0" smtClean="0"/>
              <a:t>edge</a:t>
            </a:r>
          </a:p>
          <a:p>
            <a:endParaRPr lang="en-US" dirty="0" smtClean="0"/>
          </a:p>
        </p:txBody>
      </p:sp>
      <p:pic>
        <p:nvPicPr>
          <p:cNvPr id="5" name="Picture 4"/>
          <p:cNvPicPr>
            <a:picLocks noChangeAspect="1"/>
          </p:cNvPicPr>
          <p:nvPr/>
        </p:nvPicPr>
        <p:blipFill>
          <a:blip r:embed="rId2"/>
          <a:stretch>
            <a:fillRect/>
          </a:stretch>
        </p:blipFill>
        <p:spPr>
          <a:xfrm>
            <a:off x="3216522" y="2928521"/>
            <a:ext cx="4620270" cy="3381847"/>
          </a:xfrm>
          <a:prstGeom prst="rect">
            <a:avLst/>
          </a:prstGeom>
        </p:spPr>
      </p:pic>
    </p:spTree>
    <p:extLst>
      <p:ext uri="{BB962C8B-B14F-4D97-AF65-F5344CB8AC3E}">
        <p14:creationId xmlns:p14="http://schemas.microsoft.com/office/powerpoint/2010/main" val="20233708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077474" y="821932"/>
            <a:ext cx="8068801" cy="5630061"/>
          </a:xfrm>
          <a:prstGeom prst="rect">
            <a:avLst/>
          </a:prstGeom>
        </p:spPr>
      </p:pic>
    </p:spTree>
    <p:extLst>
      <p:ext uri="{BB962C8B-B14F-4D97-AF65-F5344CB8AC3E}">
        <p14:creationId xmlns:p14="http://schemas.microsoft.com/office/powerpoint/2010/main" val="6945101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006027" y="655221"/>
            <a:ext cx="8211696" cy="5963482"/>
          </a:xfrm>
          <a:prstGeom prst="rect">
            <a:avLst/>
          </a:prstGeom>
        </p:spPr>
      </p:pic>
    </p:spTree>
    <p:extLst>
      <p:ext uri="{BB962C8B-B14F-4D97-AF65-F5344CB8AC3E}">
        <p14:creationId xmlns:p14="http://schemas.microsoft.com/office/powerpoint/2010/main" val="2720276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2025079" y="750484"/>
            <a:ext cx="8173591" cy="5772956"/>
          </a:xfrm>
          <a:prstGeom prst="rect">
            <a:avLst/>
          </a:prstGeom>
        </p:spPr>
      </p:pic>
    </p:spTree>
    <p:extLst>
      <p:ext uri="{BB962C8B-B14F-4D97-AF65-F5344CB8AC3E}">
        <p14:creationId xmlns:p14="http://schemas.microsoft.com/office/powerpoint/2010/main" val="2993289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Instead of explicitly permuting the input data (which is expensive), randomization can be accomplished trivially by random sampling of one of the array elements as the pivot.</a:t>
            </a:r>
          </a:p>
          <a:p>
            <a:r>
              <a:rPr lang="en-US" dirty="0"/>
              <a:t>If we swap the selected item with the last element, the existing PARTITION procedure applies</a:t>
            </a:r>
            <a:r>
              <a:rPr lang="en-US" dirty="0" smtClean="0"/>
              <a:t>:</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2825106" y="2620999"/>
            <a:ext cx="4505954" cy="2495898"/>
          </a:xfrm>
          <a:prstGeom prst="rect">
            <a:avLst/>
          </a:prstGeom>
        </p:spPr>
      </p:pic>
    </p:spTree>
    <p:extLst>
      <p:ext uri="{BB962C8B-B14F-4D97-AF65-F5344CB8AC3E}">
        <p14:creationId xmlns:p14="http://schemas.microsoft.com/office/powerpoint/2010/main" val="1713004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fontScale="90000"/>
          </a:bodyPr>
          <a:lstStyle/>
          <a:p>
            <a:r>
              <a:rPr lang="en-US" altLang="en-US" smtClean="0"/>
              <a:t>The Quick Sort Problem</a:t>
            </a:r>
          </a:p>
        </p:txBody>
      </p:sp>
      <p:sp>
        <p:nvSpPr>
          <p:cNvPr id="19459" name="Content Placeholder 2"/>
          <p:cNvSpPr>
            <a:spLocks noGrp="1"/>
          </p:cNvSpPr>
          <p:nvPr>
            <p:ph idx="1"/>
          </p:nvPr>
        </p:nvSpPr>
        <p:spPr>
          <a:xfrm>
            <a:off x="1828800" y="1935164"/>
            <a:ext cx="8229600" cy="4389437"/>
          </a:xfrm>
        </p:spPr>
        <p:txBody>
          <a:bodyPr/>
          <a:lstStyle/>
          <a:p>
            <a:r>
              <a:rPr lang="en-US" altLang="en-US" smtClean="0"/>
              <a:t>To sort a given set of numbers</a:t>
            </a:r>
          </a:p>
          <a:p>
            <a:pPr lvl="1"/>
            <a:r>
              <a:rPr lang="en-US" altLang="en-US" smtClean="0"/>
              <a:t>In traditional quick sort algorithm, we pick a particular index element as pivot for splitting.</a:t>
            </a:r>
          </a:p>
          <a:p>
            <a:pPr lvl="2"/>
            <a:r>
              <a:rPr lang="en-US" altLang="en-US" smtClean="0"/>
              <a:t>Worst Case: </a:t>
            </a:r>
            <a:r>
              <a:rPr lang="en-US" altLang="en-US" i="1" smtClean="0"/>
              <a:t>O</a:t>
            </a:r>
            <a:r>
              <a:rPr lang="en-US" altLang="en-US" smtClean="0"/>
              <a:t>(</a:t>
            </a:r>
            <a:r>
              <a:rPr lang="en-US" altLang="en-US" i="1" smtClean="0"/>
              <a:t>n</a:t>
            </a:r>
            <a:r>
              <a:rPr lang="en-US" altLang="en-US" i="1" baseline="30000" smtClean="0"/>
              <a:t>2</a:t>
            </a:r>
            <a:r>
              <a:rPr lang="en-US" altLang="en-US" baseline="-25000" smtClean="0"/>
              <a:t> </a:t>
            </a:r>
            <a:r>
              <a:rPr lang="en-US" altLang="en-US" smtClean="0"/>
              <a:t>)</a:t>
            </a:r>
          </a:p>
          <a:p>
            <a:pPr lvl="2"/>
            <a:r>
              <a:rPr lang="en-US" altLang="en-US" smtClean="0"/>
              <a:t>Average Case: </a:t>
            </a:r>
            <a:r>
              <a:rPr lang="en-US" altLang="en-US" i="1" smtClean="0"/>
              <a:t>O</a:t>
            </a:r>
            <a:r>
              <a:rPr lang="en-US" altLang="en-US" smtClean="0"/>
              <a:t>(</a:t>
            </a:r>
            <a:r>
              <a:rPr lang="en-US" altLang="en-US" i="1" smtClean="0"/>
              <a:t>n </a:t>
            </a:r>
            <a:r>
              <a:rPr lang="en-US" altLang="en-US" smtClean="0"/>
              <a:t>log </a:t>
            </a:r>
            <a:r>
              <a:rPr lang="en-US" altLang="en-US" i="1" smtClean="0"/>
              <a:t>n</a:t>
            </a:r>
            <a:r>
              <a:rPr lang="en-US" altLang="en-US" smtClean="0"/>
              <a:t>)</a:t>
            </a:r>
          </a:p>
          <a:p>
            <a:pPr lvl="1"/>
            <a:r>
              <a:rPr lang="en-US" altLang="en-US" smtClean="0"/>
              <a:t>A good pivot can be selected using median finding algorithm but the total complexity will again be </a:t>
            </a:r>
            <a:r>
              <a:rPr lang="en-US" altLang="en-US" i="1" smtClean="0"/>
              <a:t>O</a:t>
            </a:r>
            <a:r>
              <a:rPr lang="en-US" altLang="en-US" smtClean="0"/>
              <a:t>(</a:t>
            </a:r>
            <a:r>
              <a:rPr lang="en-US" altLang="en-US" i="1" smtClean="0"/>
              <a:t>n</a:t>
            </a:r>
            <a:r>
              <a:rPr lang="en-US" altLang="en-US" i="1" baseline="30000" smtClean="0"/>
              <a:t>2</a:t>
            </a:r>
            <a:r>
              <a:rPr lang="en-US" altLang="en-US" baseline="-25000" smtClean="0"/>
              <a:t> </a:t>
            </a:r>
            <a:r>
              <a:rPr lang="en-US" altLang="en-US" smtClean="0"/>
              <a:t>).</a:t>
            </a:r>
          </a:p>
          <a:p>
            <a:pPr lvl="1"/>
            <a:r>
              <a:rPr lang="en-US" altLang="en-US" smtClean="0"/>
              <a:t>So, what if we pick a random element uniformly as pivot and do the partition. We will show that this takes expected </a:t>
            </a:r>
            <a:r>
              <a:rPr lang="en-US" altLang="en-US" i="1" smtClean="0"/>
              <a:t>O</a:t>
            </a:r>
            <a:r>
              <a:rPr lang="en-US" altLang="en-US" smtClean="0"/>
              <a:t>(</a:t>
            </a:r>
            <a:r>
              <a:rPr lang="en-US" altLang="en-US" i="1" smtClean="0"/>
              <a:t>n </a:t>
            </a:r>
            <a:r>
              <a:rPr lang="en-US" altLang="en-US" smtClean="0"/>
              <a:t>log </a:t>
            </a:r>
            <a:r>
              <a:rPr lang="en-US" altLang="en-US" i="1" smtClean="0"/>
              <a:t>n</a:t>
            </a:r>
            <a:r>
              <a:rPr lang="en-US" altLang="en-US" smtClean="0"/>
              <a:t>) time.</a:t>
            </a:r>
          </a:p>
          <a:p>
            <a:pPr lvl="1"/>
            <a:endParaRPr lang="en-US" altLang="en-US" smtClean="0"/>
          </a:p>
        </p:txBody>
      </p:sp>
    </p:spTree>
    <p:extLst>
      <p:ext uri="{BB962C8B-B14F-4D97-AF65-F5344CB8AC3E}">
        <p14:creationId xmlns:p14="http://schemas.microsoft.com/office/powerpoint/2010/main" val="2791477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smtClean="0"/>
              <a:t>Randomized Quick Sort algorithm</a:t>
            </a:r>
            <a:endParaRPr lang="en-US" dirty="0"/>
          </a:p>
        </p:txBody>
      </p:sp>
      <p:sp>
        <p:nvSpPr>
          <p:cNvPr id="20483" name="Content Placeholder 2"/>
          <p:cNvSpPr>
            <a:spLocks noGrp="1"/>
          </p:cNvSpPr>
          <p:nvPr>
            <p:ph idx="1"/>
          </p:nvPr>
        </p:nvSpPr>
        <p:spPr/>
        <p:txBody>
          <a:bodyPr/>
          <a:lstStyle/>
          <a:p>
            <a:r>
              <a:rPr lang="en-US" altLang="zh-TW" smtClean="0">
                <a:cs typeface="新細明體"/>
              </a:rPr>
              <a:t>Assuming all elements are distinct</a:t>
            </a:r>
          </a:p>
          <a:p>
            <a:r>
              <a:rPr lang="en-US" altLang="zh-TW" smtClean="0">
                <a:cs typeface="新細明體"/>
              </a:rPr>
              <a:t>We pick a random element </a:t>
            </a:r>
            <a:r>
              <a:rPr lang="en-US" altLang="zh-TW" i="1" smtClean="0">
                <a:cs typeface="新細明體"/>
              </a:rPr>
              <a:t>x</a:t>
            </a:r>
            <a:r>
              <a:rPr lang="en-US" altLang="zh-TW" smtClean="0">
                <a:cs typeface="新細明體"/>
              </a:rPr>
              <a:t> as the pivot and partition the input set </a:t>
            </a:r>
            <a:r>
              <a:rPr lang="en-US" altLang="zh-TW" i="1" smtClean="0">
                <a:cs typeface="新細明體"/>
              </a:rPr>
              <a:t>S</a:t>
            </a:r>
            <a:r>
              <a:rPr lang="en-US" altLang="zh-TW" smtClean="0">
                <a:cs typeface="新細明體"/>
              </a:rPr>
              <a:t> into two sets </a:t>
            </a:r>
            <a:r>
              <a:rPr lang="en-US" altLang="zh-TW" i="1" smtClean="0">
                <a:cs typeface="新細明體"/>
              </a:rPr>
              <a:t>L</a:t>
            </a:r>
            <a:r>
              <a:rPr lang="en-US" altLang="zh-TW" smtClean="0">
                <a:cs typeface="新細明體"/>
              </a:rPr>
              <a:t> and </a:t>
            </a:r>
            <a:r>
              <a:rPr lang="en-US" altLang="zh-TW" i="1" smtClean="0">
                <a:cs typeface="新細明體"/>
              </a:rPr>
              <a:t>R</a:t>
            </a:r>
            <a:r>
              <a:rPr lang="en-US" altLang="zh-TW" smtClean="0">
                <a:cs typeface="新細明體"/>
              </a:rPr>
              <a:t> such:</a:t>
            </a:r>
          </a:p>
          <a:p>
            <a:pPr lvl="1"/>
            <a:r>
              <a:rPr lang="en-US" altLang="zh-TW" i="1" smtClean="0">
                <a:cs typeface="新細明體"/>
              </a:rPr>
              <a:t>L</a:t>
            </a:r>
            <a:r>
              <a:rPr lang="en-US" altLang="zh-TW" smtClean="0">
                <a:cs typeface="新細明體"/>
              </a:rPr>
              <a:t> = numbers less than </a:t>
            </a:r>
            <a:r>
              <a:rPr lang="en-US" altLang="zh-TW" i="1" smtClean="0">
                <a:cs typeface="新細明體"/>
              </a:rPr>
              <a:t>x</a:t>
            </a:r>
            <a:endParaRPr lang="en-US" altLang="zh-TW" smtClean="0">
              <a:cs typeface="新細明體"/>
            </a:endParaRPr>
          </a:p>
          <a:p>
            <a:pPr lvl="1"/>
            <a:r>
              <a:rPr lang="en-US" altLang="zh-TW" i="1" smtClean="0">
                <a:cs typeface="新細明體"/>
              </a:rPr>
              <a:t>R</a:t>
            </a:r>
            <a:r>
              <a:rPr lang="en-US" altLang="zh-TW" smtClean="0">
                <a:cs typeface="新細明體"/>
              </a:rPr>
              <a:t> = numbers greater than </a:t>
            </a:r>
            <a:r>
              <a:rPr lang="en-US" altLang="zh-TW" i="1" smtClean="0">
                <a:cs typeface="新細明體"/>
              </a:rPr>
              <a:t>x</a:t>
            </a:r>
            <a:endParaRPr lang="en-US" altLang="zh-TW" smtClean="0">
              <a:cs typeface="新細明體"/>
            </a:endParaRPr>
          </a:p>
          <a:p>
            <a:r>
              <a:rPr lang="en-US" altLang="zh-TW" smtClean="0">
                <a:cs typeface="新細明體"/>
              </a:rPr>
              <a:t>Recursively sort </a:t>
            </a:r>
            <a:r>
              <a:rPr lang="en-US" altLang="zh-TW" i="1" smtClean="0">
                <a:cs typeface="新細明體"/>
              </a:rPr>
              <a:t>L</a:t>
            </a:r>
            <a:r>
              <a:rPr lang="en-US" altLang="zh-TW" smtClean="0">
                <a:cs typeface="新細明體"/>
              </a:rPr>
              <a:t> and </a:t>
            </a:r>
            <a:r>
              <a:rPr lang="en-US" altLang="zh-TW" i="1" smtClean="0">
                <a:cs typeface="新細明體"/>
              </a:rPr>
              <a:t>R</a:t>
            </a:r>
            <a:r>
              <a:rPr lang="en-US" altLang="zh-TW" smtClean="0">
                <a:cs typeface="新細明體"/>
              </a:rPr>
              <a:t>.</a:t>
            </a:r>
          </a:p>
          <a:p>
            <a:r>
              <a:rPr lang="en-US" altLang="zh-TW" smtClean="0">
                <a:cs typeface="新細明體"/>
              </a:rPr>
              <a:t>Return </a:t>
            </a:r>
            <a:r>
              <a:rPr lang="en-US" altLang="zh-TW" i="1" smtClean="0">
                <a:cs typeface="新細明體"/>
              </a:rPr>
              <a:t>LxR</a:t>
            </a:r>
          </a:p>
          <a:p>
            <a:endParaRPr lang="en-US" altLang="en-US" smtClean="0"/>
          </a:p>
        </p:txBody>
      </p:sp>
    </p:spTree>
    <p:extLst>
      <p:ext uri="{BB962C8B-B14F-4D97-AF65-F5344CB8AC3E}">
        <p14:creationId xmlns:p14="http://schemas.microsoft.com/office/powerpoint/2010/main" val="35239090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Cont’d</a:t>
            </a:r>
            <a:endParaRPr lang="en-US" dirty="0"/>
          </a:p>
        </p:txBody>
      </p:sp>
      <p:pic>
        <p:nvPicPr>
          <p:cNvPr id="4" name="Content Placeholder 3"/>
          <p:cNvPicPr>
            <a:picLocks noGrp="1" noChangeAspect="1"/>
          </p:cNvPicPr>
          <p:nvPr>
            <p:ph idx="1"/>
          </p:nvPr>
        </p:nvPicPr>
        <p:blipFill>
          <a:blip r:embed="rId2"/>
          <a:stretch>
            <a:fillRect/>
          </a:stretch>
        </p:blipFill>
        <p:spPr>
          <a:xfrm>
            <a:off x="1362974" y="706788"/>
            <a:ext cx="8704051" cy="5370585"/>
          </a:xfrm>
          <a:prstGeom prst="rect">
            <a:avLst/>
          </a:prstGeom>
        </p:spPr>
      </p:pic>
    </p:spTree>
    <p:extLst>
      <p:ext uri="{BB962C8B-B14F-4D97-AF65-F5344CB8AC3E}">
        <p14:creationId xmlns:p14="http://schemas.microsoft.com/office/powerpoint/2010/main" val="336856131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1054</Words>
  <Application>Microsoft Office PowerPoint</Application>
  <PresentationFormat>Widescreen</PresentationFormat>
  <Paragraphs>104</Paragraphs>
  <Slides>43</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43</vt:i4>
      </vt:variant>
    </vt:vector>
  </HeadingPairs>
  <TitlesOfParts>
    <vt:vector size="51" baseType="lpstr">
      <vt:lpstr>Arial</vt:lpstr>
      <vt:lpstr>Calibri</vt:lpstr>
      <vt:lpstr>Calibri Light</vt:lpstr>
      <vt:lpstr>新細明體</vt:lpstr>
      <vt:lpstr>Times New Roman</vt:lpstr>
      <vt:lpstr>1_Office Theme</vt:lpstr>
      <vt:lpstr>Office Theme</vt:lpstr>
      <vt:lpstr>2_Office Theme</vt:lpstr>
      <vt:lpstr>Cont’d-Convex hull</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Cont’d-Example</vt:lpstr>
      <vt:lpstr>Cont’d</vt:lpstr>
      <vt:lpstr>Cont’d</vt:lpstr>
      <vt:lpstr>Cont’d</vt:lpstr>
      <vt:lpstr>Cont’d</vt:lpstr>
      <vt:lpstr>Cont’d</vt:lpstr>
      <vt:lpstr>Cont’d</vt:lpstr>
      <vt:lpstr>Cont’d</vt:lpstr>
      <vt:lpstr>Cont’d</vt:lpstr>
      <vt:lpstr>The Quick Sort Problem</vt:lpstr>
      <vt:lpstr>Randomized Quick Sort algorithm</vt:lpstr>
      <vt:lpstr>Cont’d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Cont’d</dc:title>
  <dc:creator>Microsoft account</dc:creator>
  <cp:lastModifiedBy>USER</cp:lastModifiedBy>
  <cp:revision>2</cp:revision>
  <dcterms:created xsi:type="dcterms:W3CDTF">2023-02-28T14:37:03Z</dcterms:created>
  <dcterms:modified xsi:type="dcterms:W3CDTF">2026-03-29T15:25:23Z</dcterms:modified>
</cp:coreProperties>
</file>